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tardes, quisiera comenzar con una pregunta simple: ¿Qué van a cocinar hoy en sus casas?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no lo saben, probablemente busquen en Google, le pregunten a la IA, o busquen esa receta que vieron en Instagram y guardaron para algún momento. Recetas se pueden encontrar en cualquier lado, pero bien organizadas en ninguno.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aún con la receta en mano, quedan preguntas: ¿cuánto me va a costar prepararla? ¿es saludable? Para responder eso nació Bocado.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Creamos esta aplicación porque creemos que alimentarse no significa comer más, sino comer mejor. Un bocado representa el equilibrio entre respetar las porciones, cuidar la economía personal y disfrutar de algo 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Bocado es más que una aplicación que guarda recetas: es un espacio para aprender, ahorrar y comer más sano. Nuestro propósito es centralizar esas experiencias en un único lugar, para que cualquiera construya su propio recetario digital mientras aprende de otros.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 es la carta de presentación a la comunidad, una oportunidad de exponer tu visión e intereses culinarios. El corazón de Bocado es la creación de recetas.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 es la carta de presentación a la comunidad, una oportunidad de exponer tu visión e intereses culinarios.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pantallas del editor de recetas, con el nombre del paso encima de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recorrido del editor, sincronizado: a la izquierda las fases Vista previa y Publicación; a la derecha los pasos que se encienden y se apagan al ritmo del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Apuntamos a una comunidad activa de miles de usuarios. Para eso proponemos una suscripción Premium: más espacio de guardado, distinciones especiales de perfil y mayor visibilidad dentro de la comunidad.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Bocado no es solo un recetario digital: es una comunidad especial. Cada usuario puede recorrer perfiles, descubrir cocineros y compartir recetas.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usuario puede recorrer perfiles, descubrir cocineros y compartir recetas. El descubrimiento ocurre naturalmente a través del feed principal. Si buscás algo específico, podés filtrar por nombre, autor o etiquetas.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confianza no la genera un algoritmo, sino las propias personas: likes, favoritos, calificaciones y seguidores. Todo bien que le hacés a la comunidad vuelve en forma de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verdadero valor de una receta no está en tenerla, está en compartirla. En Bocado, cada publicación tiene un objetivo único: enseñar, aprender y compartir sobre cocina.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próximas features: un planificador semanal de comidas, análisis nutricional avanzado, perfiles profesionales para creadores de contenido gastronómico, y un sistema de monetización para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Argentina como origen, con flechas de expansión hacia el resto de Sudamérica hispanohablante y presencia planeada en Centroamérica.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bien para cocinar mejor: la app se adapta a personas con protanopia, deuteranopia o tritanopia.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les presentamos Bocado, y los invitamos a formar parte de una comunidad que se preocupa por la salud y economía personal.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9525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1042988"/>
            <a:ext cx="11465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43000" y="3943052"/>
            <a:ext cx="6336759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658"/>
              </a:lnSpc>
              <a:buNone/>
            </a:pPr>
            <a:r>
              <a:rPr lang="en-US" sz="7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1143000" y="5220146"/>
            <a:ext cx="549402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Aprender, compartir, ahorrar y comer mejor.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" y="8705850"/>
            <a:ext cx="460124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Agustin Baied · Franco Gabriel Fernandez · Facundo Cuello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46690" y="0"/>
            <a:ext cx="10241161" cy="10287000"/>
          </a:xfrm>
          <a:prstGeom prst="rect">
            <a:avLst/>
          </a:prstGeom>
          <a:solidFill>
            <a:srgbClr val="1A140F"/>
          </a:solidFill>
          <a:ln/>
        </p:spPr>
      </p:sp>
      <p:sp>
        <p:nvSpPr>
          <p:cNvPr id="8" name="Shape 5"/>
          <p:cNvSpPr/>
          <p:nvPr/>
        </p:nvSpPr>
        <p:spPr>
          <a:xfrm>
            <a:off x="7928521" y="-95250"/>
            <a:ext cx="10477500" cy="10477500"/>
          </a:xfrm>
          <a:prstGeom prst="ellipse">
            <a:avLst/>
          </a:prstGeom>
          <a:gradFill rotWithShape="1">
            <a:gsLst>
              <a:gs pos="0">
                <a:srgbClr val="D96E11">
                  <a:alpha val="16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90771" y="2667000"/>
            <a:ext cx="4953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4345632"/>
            <a:ext cx="23178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917132"/>
            <a:ext cx="10790188" cy="1062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9"/>
              </a:lnSpc>
              <a:buNone/>
            </a:pPr>
            <a:r>
              <a:rPr lang="en-US" sz="72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van a comer hoy?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1143000" y="3995738"/>
            <a:ext cx="16002000" cy="9525"/>
          </a:xfrm>
          <a:prstGeom prst="rect">
            <a:avLst/>
          </a:prstGeom>
          <a:solidFill>
            <a:srgbClr val="3D3732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3290888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02147" y="2871788"/>
            <a:ext cx="322821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¿Costos?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1143000" y="5395913"/>
            <a:ext cx="16002000" cy="9525"/>
          </a:xfrm>
          <a:prstGeom prst="rect">
            <a:avLst/>
          </a:prstGeom>
          <a:solidFill>
            <a:srgbClr val="3D3732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4691063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02147" y="4271963"/>
            <a:ext cx="423503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¿Porciones?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143000" y="6091238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02147" y="5672138"/>
            <a:ext cx="423602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¿Saludable?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1143000" y="6986588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responder eso, nació Bocado.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2900363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EQUILIBRIO DE UN BOCADO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395663"/>
            <a:ext cx="1373505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Alimentarse no significa comer más, sino comer mejor.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14300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7162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8" name="Text 5"/>
          <p:cNvSpPr/>
          <p:nvPr/>
        </p:nvSpPr>
        <p:spPr>
          <a:xfrm>
            <a:off x="157162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23875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737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1" name="Text 8"/>
          <p:cNvSpPr/>
          <p:nvPr/>
        </p:nvSpPr>
        <p:spPr>
          <a:xfrm>
            <a:off x="566737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933450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6312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4" name="Text 11"/>
          <p:cNvSpPr/>
          <p:nvPr/>
        </p:nvSpPr>
        <p:spPr>
          <a:xfrm>
            <a:off x="976312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Sabor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343025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85887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7" name="Text 14"/>
          <p:cNvSpPr/>
          <p:nvPr/>
        </p:nvSpPr>
        <p:spPr>
          <a:xfrm>
            <a:off x="1385887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Saludable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2777728"/>
            <a:ext cx="17602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066"/>
              </a:lnSpc>
              <a:buNone/>
            </a:pPr>
            <a:r>
              <a:rPr lang="en-US" sz="105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500" dirty="0"/>
          </a:p>
        </p:txBody>
      </p:sp>
      <p:sp>
        <p:nvSpPr>
          <p:cNvPr id="5" name="Text 2"/>
          <p:cNvSpPr/>
          <p:nvPr/>
        </p:nvSpPr>
        <p:spPr>
          <a:xfrm>
            <a:off x="1143000" y="4339828"/>
            <a:ext cx="14716125" cy="3207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 es más que una aplicación que guarda recetas: Es un espacio para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cocinar,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conocimiento,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ahorrar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compras y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 </a:t>
            </a:r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sano.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37719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267200"/>
            <a:ext cx="176022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individuales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143000" y="5581650"/>
            <a:ext cx="127539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perfil, la creación de recetas y las herramientas que facilitan el proceso.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2566988"/>
            <a:ext cx="9203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062288"/>
            <a:ext cx="861767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carta de presentación a la comunidad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143000" y="5248275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7" name="Text 4"/>
          <p:cNvSpPr/>
          <p:nvPr/>
        </p:nvSpPr>
        <p:spPr>
          <a:xfrm>
            <a:off x="1428750" y="5119688"/>
            <a:ext cx="1431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Biografía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143000" y="5810250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9" name="Text 6"/>
          <p:cNvSpPr/>
          <p:nvPr/>
        </p:nvSpPr>
        <p:spPr>
          <a:xfrm>
            <a:off x="1428750" y="5681663"/>
            <a:ext cx="11446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143000" y="6372225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1" name="Text 8"/>
          <p:cNvSpPr/>
          <p:nvPr/>
        </p:nvSpPr>
        <p:spPr>
          <a:xfrm>
            <a:off x="1428750" y="6243638"/>
            <a:ext cx="7289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143000" y="6934200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6805613"/>
            <a:ext cx="12211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612511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" name="Shape 12"/>
          <p:cNvSpPr/>
          <p:nvPr/>
        </p:nvSpPr>
        <p:spPr>
          <a:xfrm>
            <a:off x="11920686" y="1038225"/>
            <a:ext cx="3956000" cy="8210550"/>
          </a:xfrm>
          <a:prstGeom prst="roundRect">
            <a:avLst>
              <a:gd name="adj" fmla="val 8668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0686" y="1038225"/>
            <a:ext cx="3956000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292490" y="890885"/>
            <a:ext cx="570287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recetas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3158877" y="2205335"/>
            <a:ext cx="6543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857375" y="2691110"/>
            <a:ext cx="3257550" cy="6704856"/>
          </a:xfrm>
          <a:prstGeom prst="roundRect">
            <a:avLst>
              <a:gd name="adj" fmla="val 8187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2" r="-152" t="0" b="0"/>
          <a:stretch/>
        </p:blipFill>
        <p:spPr>
          <a:xfrm>
            <a:off x="1857375" y="2691110"/>
            <a:ext cx="3257550" cy="67048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0798" y="2205335"/>
            <a:ext cx="2574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Ingredientes y costos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5629275" y="2691110"/>
            <a:ext cx="3257550" cy="6661993"/>
          </a:xfrm>
          <a:prstGeom prst="roundRect">
            <a:avLst>
              <a:gd name="adj" fmla="val 8187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1" r="-151" t="0" b="0"/>
          <a:stretch/>
        </p:blipFill>
        <p:spPr>
          <a:xfrm>
            <a:off x="5629275" y="2691110"/>
            <a:ext cx="3257550" cy="66619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27439" y="2205335"/>
            <a:ext cx="1605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9401175" y="2691110"/>
            <a:ext cx="3257550" cy="6704856"/>
          </a:xfrm>
          <a:prstGeom prst="roundRect">
            <a:avLst>
              <a:gd name="adj" fmla="val 8187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152" r="-152" t="0" b="0"/>
          <a:stretch/>
        </p:blipFill>
        <p:spPr>
          <a:xfrm>
            <a:off x="9401175" y="2691110"/>
            <a:ext cx="3257550" cy="67048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78193" y="2205335"/>
            <a:ext cx="18473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finales</a:t>
            </a:r>
            <a:endParaRPr lang="en-US" sz="1950" dirty="0"/>
          </a:p>
        </p:txBody>
      </p:sp>
      <p:sp>
        <p:nvSpPr>
          <p:cNvPr id="15" name="Shape 9"/>
          <p:cNvSpPr/>
          <p:nvPr/>
        </p:nvSpPr>
        <p:spPr>
          <a:xfrm>
            <a:off x="13173075" y="2691110"/>
            <a:ext cx="3257550" cy="6687741"/>
          </a:xfrm>
          <a:prstGeom prst="roundRect">
            <a:avLst>
              <a:gd name="adj" fmla="val 8187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151" r="-151" t="0" b="0"/>
          <a:stretch/>
        </p:blipFill>
        <p:spPr>
          <a:xfrm>
            <a:off x="13173075" y="2691110"/>
            <a:ext cx="3257550" cy="6687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825282" y="4146352"/>
            <a:ext cx="6546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spc="180" kern="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43193" y="4708327"/>
            <a:ext cx="283678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8356"/>
              </a:lnSpc>
              <a:buNone/>
            </a:pPr>
            <a:r>
              <a:rPr lang="en-US" sz="3900" b="1" dirty="0">
                <a:solidFill>
                  <a:srgbClr val="3D3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previa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3693453" y="5595938"/>
            <a:ext cx="278652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8356"/>
              </a:lnSpc>
              <a:buNone/>
            </a:pPr>
            <a:r>
              <a:rPr lang="en-US" sz="39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7165777" y="857250"/>
            <a:ext cx="3956447" cy="8572500"/>
          </a:xfrm>
          <a:prstGeom prst="roundRect">
            <a:avLst>
              <a:gd name="adj" fmla="val 6741"/>
            </a:avLst>
          </a:prstGeom>
          <a:ln/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808023" y="3502521"/>
            <a:ext cx="83284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08023" y="4026396"/>
            <a:ext cx="105459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5"/>
              </a:lnSpc>
              <a:buNone/>
            </a:pPr>
            <a:r>
              <a:rPr lang="en-US" sz="3300" b="1" dirty="0">
                <a:solidFill>
                  <a:srgbClr val="3D3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1808023" y="4792117"/>
            <a:ext cx="4395148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5"/>
              </a:lnSpc>
              <a:buNone/>
            </a:pPr>
            <a:r>
              <a:rPr lang="en-US" sz="3300" b="1" dirty="0">
                <a:solidFill>
                  <a:srgbClr val="3D3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Ingredientes + costos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11808023" y="5557838"/>
            <a:ext cx="2716128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5"/>
              </a:lnSpc>
              <a:buNone/>
            </a:pPr>
            <a:r>
              <a:rPr lang="en-US" sz="3300" b="1" dirty="0">
                <a:solidFill>
                  <a:srgbClr val="3D3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1808023" y="6323558"/>
            <a:ext cx="3126224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5"/>
              </a:lnSpc>
              <a:buNone/>
            </a:pPr>
            <a:r>
              <a:rPr lang="en-US" sz="3300" b="1" dirty="0">
                <a:solidFill>
                  <a:srgbClr val="3D3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finales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999006" y="3367088"/>
            <a:ext cx="2289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MONETIZACIÓN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580511" y="3862387"/>
            <a:ext cx="712682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Premium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2972098" y="5138738"/>
            <a:ext cx="3860453" cy="1781175"/>
          </a:xfrm>
          <a:prstGeom prst="roundRect">
            <a:avLst>
              <a:gd name="adj" fmla="val 12834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77189" y="5605463"/>
            <a:ext cx="325027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espacio de guardado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7213550" y="5138738"/>
            <a:ext cx="3860602" cy="1781175"/>
          </a:xfrm>
          <a:prstGeom prst="roundRect">
            <a:avLst>
              <a:gd name="adj" fmla="val 12834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8188" y="5605463"/>
            <a:ext cx="34713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distintivo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408188" y="6043613"/>
            <a:ext cx="34713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1455152" y="5138738"/>
            <a:ext cx="3860602" cy="1781175"/>
          </a:xfrm>
          <a:prstGeom prst="roundRect">
            <a:avLst>
              <a:gd name="adj" fmla="val 12834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60241" y="5605463"/>
            <a:ext cx="325042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visibilidad en la comunidad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37719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267200"/>
            <a:ext cx="176022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 y comunidad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143000" y="5581650"/>
            <a:ext cx="127539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confianza no la genera un algoritmo, sino las propias personas.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3905250"/>
            <a:ext cx="9203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400550"/>
            <a:ext cx="920333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principal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143000" y="5524500"/>
            <a:ext cx="833913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descubrimiento ocurre naturalmente. Scrolleas, likeas, guardas, compartis.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9612511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" name="Shape 5"/>
          <p:cNvSpPr/>
          <p:nvPr/>
        </p:nvSpPr>
        <p:spPr>
          <a:xfrm>
            <a:off x="11887498" y="1038225"/>
            <a:ext cx="4022527" cy="8210550"/>
          </a:xfrm>
          <a:prstGeom prst="roundRect">
            <a:avLst>
              <a:gd name="adj" fmla="val 8524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498" y="1038225"/>
            <a:ext cx="4022527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102840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2"/>
          <p:cNvSpPr/>
          <p:nvPr/>
        </p:nvSpPr>
        <p:spPr>
          <a:xfrm>
            <a:off x="2490341" y="1038225"/>
            <a:ext cx="3797350" cy="8210550"/>
          </a:xfrm>
          <a:prstGeom prst="roundRect">
            <a:avLst>
              <a:gd name="adj" fmla="val 9030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41" y="1038225"/>
            <a:ext cx="3797350" cy="8210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84767" y="3824288"/>
            <a:ext cx="24600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598104" y="4319588"/>
            <a:ext cx="754674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Compartí! Comentá!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11071997" y="5538788"/>
            <a:ext cx="6072854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calificaciones y seguidores: todo vuelve en forma de recomendaciones.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3570089"/>
            <a:ext cx="17602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066"/>
              </a:lnSpc>
              <a:buNone/>
            </a:pPr>
            <a:r>
              <a:rPr lang="en-US" sz="105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500" dirty="0"/>
          </a:p>
        </p:txBody>
      </p:sp>
      <p:sp>
        <p:nvSpPr>
          <p:cNvPr id="5" name="Text 2"/>
          <p:cNvSpPr/>
          <p:nvPr/>
        </p:nvSpPr>
        <p:spPr>
          <a:xfrm>
            <a:off x="1143000" y="5132189"/>
            <a:ext cx="14716125" cy="1622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verdadero valor de una receta no está en tenerla, está en compartirla.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195262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2447925"/>
            <a:ext cx="146685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 seguirá progresando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143000" y="3724275"/>
            <a:ext cx="5130701" cy="2152650"/>
          </a:xfrm>
          <a:prstGeom prst="roundRect">
            <a:avLst>
              <a:gd name="adj" fmla="val 10619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33525" y="4191000"/>
            <a:ext cx="533400" cy="5334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8" name="Text 5"/>
          <p:cNvSpPr/>
          <p:nvPr/>
        </p:nvSpPr>
        <p:spPr>
          <a:xfrm>
            <a:off x="1495425" y="4191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33525" y="4953000"/>
            <a:ext cx="47846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Semanal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78501" y="3724275"/>
            <a:ext cx="5130850" cy="2152650"/>
          </a:xfrm>
          <a:prstGeom prst="roundRect">
            <a:avLst>
              <a:gd name="adj" fmla="val 10619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69026" y="4191000"/>
            <a:ext cx="533400" cy="5334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2" name="Text 9"/>
          <p:cNvSpPr/>
          <p:nvPr/>
        </p:nvSpPr>
        <p:spPr>
          <a:xfrm>
            <a:off x="6930926" y="4191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69026" y="4953000"/>
            <a:ext cx="47847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Nutricional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2014150" y="3724275"/>
            <a:ext cx="5130850" cy="2152650"/>
          </a:xfrm>
          <a:prstGeom prst="roundRect">
            <a:avLst>
              <a:gd name="adj" fmla="val 10619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404675" y="4191000"/>
            <a:ext cx="533400" cy="5334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6" name="Text 13"/>
          <p:cNvSpPr/>
          <p:nvPr/>
        </p:nvSpPr>
        <p:spPr>
          <a:xfrm>
            <a:off x="12366575" y="41910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404675" y="4953000"/>
            <a:ext cx="4784780" cy="426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Contenido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3815358" y="6181725"/>
            <a:ext cx="5176242" cy="2152650"/>
          </a:xfrm>
          <a:prstGeom prst="roundRect">
            <a:avLst>
              <a:gd name="adj" fmla="val 10619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5883" y="6648450"/>
            <a:ext cx="533400" cy="5334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20" name="Text 17"/>
          <p:cNvSpPr/>
          <p:nvPr/>
        </p:nvSpPr>
        <p:spPr>
          <a:xfrm>
            <a:off x="4167783" y="66484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205883" y="7410450"/>
            <a:ext cx="483471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Auditivo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9296400" y="6181725"/>
            <a:ext cx="5176242" cy="2152650"/>
          </a:xfrm>
          <a:prstGeom prst="roundRect">
            <a:avLst>
              <a:gd name="adj" fmla="val 10619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86925" y="6648450"/>
            <a:ext cx="533400" cy="5334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24" name="Text 21"/>
          <p:cNvSpPr/>
          <p:nvPr/>
        </p:nvSpPr>
        <p:spPr>
          <a:xfrm>
            <a:off x="9648825" y="66484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86925" y="7410450"/>
            <a:ext cx="483471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UX/UI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2528888"/>
            <a:ext cx="107849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EXPANSIÓN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024188"/>
            <a:ext cx="10098634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Argentina hacia toda Hispanoamérica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1143000" y="4967288"/>
            <a:ext cx="999381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62075" y="5091113"/>
            <a:ext cx="6374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Bolivia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56681" y="4967288"/>
            <a:ext cx="872282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75756" y="5091113"/>
            <a:ext cx="5103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43263" y="4967288"/>
            <a:ext cx="1242864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2338" y="5091113"/>
            <a:ext cx="88091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00426" y="4967288"/>
            <a:ext cx="1369814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9501" y="5091113"/>
            <a:ext cx="10078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 Rica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43000" y="5548313"/>
            <a:ext cx="893564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62075" y="5672138"/>
            <a:ext cx="53161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150864" y="5548313"/>
            <a:ext cx="1147763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69939" y="5672138"/>
            <a:ext cx="7858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412927" y="5548313"/>
            <a:ext cx="1412379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32002" y="5672138"/>
            <a:ext cx="10504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Salvador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39605" y="5548313"/>
            <a:ext cx="1370112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58680" y="5672138"/>
            <a:ext cx="10081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143000" y="6129338"/>
            <a:ext cx="1264146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62075" y="6253163"/>
            <a:ext cx="9021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Honduras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521446" y="6129338"/>
            <a:ext cx="1041648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0521" y="6253163"/>
            <a:ext cx="6796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677394" y="6129338"/>
            <a:ext cx="1306562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96469" y="6253163"/>
            <a:ext cx="9446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Nicaragua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098256" y="6129338"/>
            <a:ext cx="1147763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17331" y="6253163"/>
            <a:ext cx="7858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Panamá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143000" y="6710363"/>
            <a:ext cx="1253728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62075" y="6834188"/>
            <a:ext cx="8917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Paraguay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511028" y="6710363"/>
            <a:ext cx="840581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30103" y="6834188"/>
            <a:ext cx="4786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3465909" y="6710363"/>
            <a:ext cx="2344192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84984" y="6834188"/>
            <a:ext cx="198224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Dominicana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1143000" y="7291388"/>
            <a:ext cx="1158329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362075" y="7415213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415629" y="7291388"/>
            <a:ext cx="1327993" cy="466725"/>
          </a:xfrm>
          <a:prstGeom prst="roundRect">
            <a:avLst>
              <a:gd name="adj" fmla="val 50000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634704" y="7415213"/>
            <a:ext cx="9660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</a:t>
            </a:r>
            <a:endParaRPr lang="en-US" sz="15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1557099" y="952500"/>
            <a:ext cx="5587901" cy="8382000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alphaModFix amt="88000"/>
          </a:blip>
          <a:srcRect l="0" r="0" t="0" b="0"/>
          <a:stretch/>
        </p:blipFill>
        <p:spPr>
          <a:xfrm>
            <a:off x="14586049" y="57531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43000" y="3905250"/>
            <a:ext cx="11252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 - DALTONISMO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4400550"/>
            <a:ext cx="94297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bien para cocinar mejor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143000" y="5676900"/>
            <a:ext cx="58864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Protanopia, deuteranopia, tritanopia: La app se adapta a cada persona.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1982450" y="2200275"/>
            <a:ext cx="5162550" cy="5886450"/>
          </a:xfrm>
          <a:prstGeom prst="roundRect">
            <a:avLst>
              <a:gd name="adj" fmla="val 6642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991975" y="2209800"/>
            <a:ext cx="5143500" cy="58674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91975" y="2209800"/>
            <a:ext cx="51435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572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50" y="500063"/>
            <a:ext cx="7451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3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1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0" y="31242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38983" y="4572000"/>
            <a:ext cx="800988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 la presentación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6884134" y="5619750"/>
            <a:ext cx="45197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una vida mejor.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875731" y="6810375"/>
            <a:ext cx="25365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gracias.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2026-07-15T01:12:19Z</dcterms:created>
  <dcterms:modified xsi:type="dcterms:W3CDTF">2026-07-15T01:12:19Z</dcterms:modified>
</cp:coreProperties>
</file>