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Buenas tardes, quisiera comenzar con una pregunta simple: ¿Qué van a cocinar hoy en sus casas?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no lo saben, probablemente busquen en Google, le pregunten a la IA, o busquen esa receta que vieron en Instagram y guardaron para algún momento. Recetas se pueden encontrar en cualquier lado, pero bien organizadas en ninguno.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aún con la receta en mano, quedan preguntas: ¿cuánto me va a costar prepararla? ¿es saludable? Para responder eso nació Bocado.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Creamos esta aplicación porque creemos que alimentarse no significa comer más, sino comer mejor. Un bocado representa el equilibrio entre respetar las porciones, cuidar la economía personal y disfrutar de algo 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Bocado es más que una aplicación que guarda recetas: es un espacio para aprender, ahorrar y comer más sano. Nuestro propósito es centralizar esas experiencias en un único lugar, para que cualquiera construya su propio recetario digital mientras aprende de 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perfil es la carta de presentación a la comunidad, una oportunidad de exponer tu visión e intereses culinarios. El corazón de Bocado es la creación de recetas.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perfil es la carta de presentación a la comunidad, una oportunidad de exponer tu visión e intereses culinarios.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4 pantallas del editor de recetas, con el nombre del paso encima de cada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Bocado no es solo un recetario digital: es una comunidad especial. Cada usuario puede recorrer perfiles, descubrir cocineros y compartir recetas.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usuario puede recorrer perfiles, descubrir cocineros y compartir recetas. El descubrimiento ocurre naturalmente a través del feed principal. Si buscás algo específico, podés filtrar por nombre, autor o etiquetas.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confianza no la genera un algoritmo, sino las propias personas: likes, favoritos, calificaciones y seguidores. Todo bien que le hacés a la comunidad vuelve en forma de recomendaciones.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verdadero valor de una receta no está en tenerla, está en compartirla. En Bocado, cada publicación tiene un objetivo único: enseñar, aprender y compartir sobre cocina.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próximas features: un planificador semanal de comidas, análisis nutricional avanzado, perfiles profesionales para creadores de contenido gastronómico, y un sistema de monetización para ellos.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Apuntamos a una comunidad activa de miles de usuarios. Para eso proponemos una suscripción Premium: más espacio de guardado, distinciones especiales de perfil y mayor visibilidad dentro de la comunidad.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les presentamos Bocado, y los invitamos a formar parte de una comunidad que se preocupa por la salud y economía personal.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les presentamos Bocado, y los invitamos a formar parte de una comunidad que se preocupa por la salud y economía personal. Muchas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952500"/>
            <a:ext cx="533400" cy="533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66900" y="1042988"/>
            <a:ext cx="114657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spc="48" kern="0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Bocado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1143000" y="3943052"/>
            <a:ext cx="6336759" cy="1048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2658"/>
              </a:lnSpc>
              <a:buNone/>
            </a:pPr>
            <a:r>
              <a:rPr lang="en-US" sz="7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Bocado</a:t>
            </a:r>
            <a:endParaRPr lang="en-US" sz="7800" dirty="0"/>
          </a:p>
        </p:txBody>
      </p:sp>
      <p:sp>
        <p:nvSpPr>
          <p:cNvPr id="5" name="Text 2"/>
          <p:cNvSpPr/>
          <p:nvPr/>
        </p:nvSpPr>
        <p:spPr>
          <a:xfrm>
            <a:off x="1143000" y="5220146"/>
            <a:ext cx="549402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Aprender, compartir, ahorrar y comer mejor.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143000" y="8705850"/>
            <a:ext cx="4601242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Agustin Baied · Franco Gabriel Fernandez · Facundo Cuello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046690" y="0"/>
            <a:ext cx="10241161" cy="10287000"/>
          </a:xfrm>
          <a:prstGeom prst="rect">
            <a:avLst/>
          </a:prstGeom>
          <a:solidFill>
            <a:srgbClr val="1A140F"/>
          </a:solidFill>
          <a:ln/>
        </p:spPr>
      </p:sp>
      <p:sp>
        <p:nvSpPr>
          <p:cNvPr id="8" name="Shape 5"/>
          <p:cNvSpPr/>
          <p:nvPr/>
        </p:nvSpPr>
        <p:spPr>
          <a:xfrm>
            <a:off x="7928521" y="-95250"/>
            <a:ext cx="10477500" cy="10477500"/>
          </a:xfrm>
          <a:prstGeom prst="ellipse">
            <a:avLst/>
          </a:prstGeom>
          <a:gradFill rotWithShape="1">
            <a:gsLst>
              <a:gs pos="0">
                <a:srgbClr val="D96E11">
                  <a:alpha val="16000"/>
                </a:srgbClr>
              </a:gs>
              <a:gs pos="70000">
                <a:srgbClr val="D96E1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690771" y="2667000"/>
            <a:ext cx="4953000" cy="495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4345632"/>
            <a:ext cx="231781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4917132"/>
            <a:ext cx="10790188" cy="1062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9059"/>
              </a:lnSpc>
              <a:buNone/>
            </a:pPr>
            <a:r>
              <a:rPr lang="en-US" sz="72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van a comer hoy?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995738"/>
            <a:ext cx="16002000" cy="9525"/>
          </a:xfrm>
          <a:prstGeom prst="rect">
            <a:avLst/>
          </a:prstGeom>
          <a:solidFill>
            <a:srgbClr val="3D373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3290888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702147" y="2871788"/>
            <a:ext cx="3228216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¿Costos?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143000" y="5395913"/>
            <a:ext cx="16002000" cy="9525"/>
          </a:xfrm>
          <a:prstGeom prst="rect">
            <a:avLst/>
          </a:prstGeom>
          <a:solidFill>
            <a:srgbClr val="3D3732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691063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02147" y="4271963"/>
            <a:ext cx="4235038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¿Porciones?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143000" y="6091238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02147" y="5672138"/>
            <a:ext cx="4236021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¿Saludable?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143000" y="6986588"/>
            <a:ext cx="176022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responder eso, nació Bocado.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2900363"/>
            <a:ext cx="17602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EQUILIBRIO DE UN BOCADO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395663"/>
            <a:ext cx="1373505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Alimentarse no significa comer más, sino comer mejor.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5453063"/>
            <a:ext cx="3714750" cy="1933575"/>
          </a:xfrm>
          <a:prstGeom prst="roundRect">
            <a:avLst>
              <a:gd name="adj" fmla="val 1182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71625" y="5995988"/>
            <a:ext cx="190500" cy="19050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6" name="Text 4"/>
          <p:cNvSpPr/>
          <p:nvPr/>
        </p:nvSpPr>
        <p:spPr>
          <a:xfrm>
            <a:off x="1571625" y="6415088"/>
            <a:ext cx="31432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Cantidad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238750" y="5453063"/>
            <a:ext cx="3714750" cy="1933575"/>
          </a:xfrm>
          <a:prstGeom prst="roundRect">
            <a:avLst>
              <a:gd name="adj" fmla="val 1182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7375" y="5995988"/>
            <a:ext cx="190500" cy="19050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9" name="Text 7"/>
          <p:cNvSpPr/>
          <p:nvPr/>
        </p:nvSpPr>
        <p:spPr>
          <a:xfrm>
            <a:off x="5667375" y="6415088"/>
            <a:ext cx="31432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Economía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0" y="5453063"/>
            <a:ext cx="3714750" cy="1933575"/>
          </a:xfrm>
          <a:prstGeom prst="roundRect">
            <a:avLst>
              <a:gd name="adj" fmla="val 1182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63125" y="5995988"/>
            <a:ext cx="190500" cy="19050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12" name="Text 10"/>
          <p:cNvSpPr/>
          <p:nvPr/>
        </p:nvSpPr>
        <p:spPr>
          <a:xfrm>
            <a:off x="9763125" y="6415088"/>
            <a:ext cx="31432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Sabor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3430250" y="5453063"/>
            <a:ext cx="3714750" cy="1933575"/>
          </a:xfrm>
          <a:prstGeom prst="roundRect">
            <a:avLst>
              <a:gd name="adj" fmla="val 1182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58875" y="5995988"/>
            <a:ext cx="190500" cy="19050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15" name="Text 13"/>
          <p:cNvSpPr/>
          <p:nvPr/>
        </p:nvSpPr>
        <p:spPr>
          <a:xfrm>
            <a:off x="13858875" y="6415088"/>
            <a:ext cx="31432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Saludable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2777728"/>
            <a:ext cx="17602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1066"/>
              </a:lnSpc>
              <a:buNone/>
            </a:pPr>
            <a:r>
              <a:rPr lang="en-US" sz="105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0500" dirty="0"/>
          </a:p>
        </p:txBody>
      </p:sp>
      <p:sp>
        <p:nvSpPr>
          <p:cNvPr id="3" name="Text 1"/>
          <p:cNvSpPr/>
          <p:nvPr/>
        </p:nvSpPr>
        <p:spPr>
          <a:xfrm>
            <a:off x="1143000" y="4339828"/>
            <a:ext cx="14716125" cy="3207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Bocado es más que una aplicación que guarda recetas: Es un espacio para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cocinar,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compartir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conocimiento,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ahorrar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las compras y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 </a:t>
            </a:r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sano.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771900"/>
            <a:ext cx="17602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4267200"/>
            <a:ext cx="1760220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Capacidades individuales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143000" y="5581650"/>
            <a:ext cx="12753975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perfil, la creación de recetas y las herramientas que facilitan el proceso.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2566988"/>
            <a:ext cx="920333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062288"/>
            <a:ext cx="8617671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carta de presentación a la comunidad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5248275"/>
            <a:ext cx="95250" cy="9525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5119688"/>
            <a:ext cx="14319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Biografía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143000" y="5810250"/>
            <a:ext cx="95250" cy="9525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7" name="Text 5"/>
          <p:cNvSpPr/>
          <p:nvPr/>
        </p:nvSpPr>
        <p:spPr>
          <a:xfrm>
            <a:off x="1428750" y="5681663"/>
            <a:ext cx="114463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143000" y="6372225"/>
            <a:ext cx="95250" cy="9525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6243638"/>
            <a:ext cx="72896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43000" y="6934200"/>
            <a:ext cx="95250" cy="95250"/>
          </a:xfrm>
          <a:prstGeom prst="ellipse">
            <a:avLst/>
          </a:prstGeom>
          <a:solidFill>
            <a:srgbClr val="D96E11"/>
          </a:solidFill>
          <a:ln/>
        </p:spPr>
      </p:sp>
      <p:sp>
        <p:nvSpPr>
          <p:cNvPr id="11" name="Text 9"/>
          <p:cNvSpPr/>
          <p:nvPr/>
        </p:nvSpPr>
        <p:spPr>
          <a:xfrm>
            <a:off x="1428750" y="6805613"/>
            <a:ext cx="122113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Recetas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612511" y="857250"/>
            <a:ext cx="8572500" cy="8572500"/>
          </a:xfrm>
          <a:prstGeom prst="ellipse">
            <a:avLst/>
          </a:prstGeom>
          <a:gradFill rotWithShape="1">
            <a:gsLst>
              <a:gs pos="0">
                <a:srgbClr val="D96E11">
                  <a:alpha val="14000"/>
                </a:srgbClr>
              </a:gs>
              <a:gs pos="70000">
                <a:srgbClr val="D96E1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13" name="Shape 11"/>
          <p:cNvSpPr/>
          <p:nvPr/>
        </p:nvSpPr>
        <p:spPr>
          <a:xfrm>
            <a:off x="11920686" y="1038225"/>
            <a:ext cx="3956000" cy="8210550"/>
          </a:xfrm>
          <a:prstGeom prst="roundRect">
            <a:avLst>
              <a:gd name="adj" fmla="val 8668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952500" dist="3810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20686" y="1038225"/>
            <a:ext cx="3956000" cy="8210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92490" y="890885"/>
            <a:ext cx="5702871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 de recetas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3158877" y="2205335"/>
            <a:ext cx="65439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Inicio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1857375" y="2691110"/>
            <a:ext cx="3257550" cy="6704856"/>
          </a:xfrm>
          <a:prstGeom prst="roundRect">
            <a:avLst>
              <a:gd name="adj" fmla="val 8187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571500" dist="2286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-152" r="-152" t="0" b="0"/>
          <a:stretch/>
        </p:blipFill>
        <p:spPr>
          <a:xfrm>
            <a:off x="1857375" y="2691110"/>
            <a:ext cx="3257550" cy="67048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70798" y="2205335"/>
            <a:ext cx="257435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Ingredientes y costos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5629275" y="2691110"/>
            <a:ext cx="3257550" cy="6661993"/>
          </a:xfrm>
          <a:prstGeom prst="roundRect">
            <a:avLst>
              <a:gd name="adj" fmla="val 8187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571500" dist="2286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-151" r="-151" t="0" b="0"/>
          <a:stretch/>
        </p:blipFill>
        <p:spPr>
          <a:xfrm>
            <a:off x="5629275" y="2691110"/>
            <a:ext cx="3257550" cy="666199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227439" y="2205335"/>
            <a:ext cx="16050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</a:t>
            </a:r>
            <a:endParaRPr lang="en-US" sz="1950" dirty="0"/>
          </a:p>
        </p:txBody>
      </p:sp>
      <p:sp>
        <p:nvSpPr>
          <p:cNvPr id="10" name="Shape 6"/>
          <p:cNvSpPr/>
          <p:nvPr/>
        </p:nvSpPr>
        <p:spPr>
          <a:xfrm>
            <a:off x="9401175" y="2691110"/>
            <a:ext cx="3257550" cy="6704856"/>
          </a:xfrm>
          <a:prstGeom prst="roundRect">
            <a:avLst>
              <a:gd name="adj" fmla="val 8187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571500" dist="228600" dir="5400000">
              <a:srgbClr val="000000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-152" r="-152" t="0" b="0"/>
          <a:stretch/>
        </p:blipFill>
        <p:spPr>
          <a:xfrm>
            <a:off x="9401175" y="2691110"/>
            <a:ext cx="3257550" cy="67048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878193" y="2205335"/>
            <a:ext cx="184731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Detalles finales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13173075" y="2691110"/>
            <a:ext cx="3257550" cy="6687741"/>
          </a:xfrm>
          <a:prstGeom prst="roundRect">
            <a:avLst>
              <a:gd name="adj" fmla="val 8187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571500" dist="228600" dir="5400000">
              <a:srgbClr val="000000">
                <a:alpha val="45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-151" r="-151" t="0" b="0"/>
          <a:stretch/>
        </p:blipFill>
        <p:spPr>
          <a:xfrm>
            <a:off x="13173075" y="2691110"/>
            <a:ext cx="3257550" cy="66877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1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771900"/>
            <a:ext cx="17602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4267200"/>
            <a:ext cx="17602200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Interacciones y comunidad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143000" y="5581650"/>
            <a:ext cx="12753975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confianza no la genera un algoritmo, sino las propias personas.</a:t>
            </a:r>
            <a:endParaRPr lang="en-US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905250"/>
            <a:ext cx="920333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INTERACCIONES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4400550"/>
            <a:ext cx="9203338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principal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43000" y="5524500"/>
            <a:ext cx="833913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descubrimiento ocurre naturalmente. Podés filtrar por nombre, autor o etiquetas.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612511" y="857250"/>
            <a:ext cx="8572500" cy="8572500"/>
          </a:xfrm>
          <a:prstGeom prst="ellipse">
            <a:avLst/>
          </a:prstGeom>
          <a:gradFill rotWithShape="1">
            <a:gsLst>
              <a:gs pos="0">
                <a:srgbClr val="D96E11">
                  <a:alpha val="14000"/>
                </a:srgbClr>
              </a:gs>
              <a:gs pos="70000">
                <a:srgbClr val="D96E1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6" name="Shape 4"/>
          <p:cNvSpPr/>
          <p:nvPr/>
        </p:nvSpPr>
        <p:spPr>
          <a:xfrm>
            <a:off x="11913096" y="1038225"/>
            <a:ext cx="3971330" cy="8210550"/>
          </a:xfrm>
          <a:prstGeom prst="roundRect">
            <a:avLst>
              <a:gd name="adj" fmla="val 8634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952500" dist="381000" dir="5400000">
              <a:srgbClr val="000000">
                <a:alpha val="5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3096" y="1038225"/>
            <a:ext cx="3971330" cy="8210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40" y="857250"/>
            <a:ext cx="8572500" cy="8572500"/>
          </a:xfrm>
          <a:prstGeom prst="ellipse">
            <a:avLst/>
          </a:prstGeom>
          <a:gradFill rotWithShape="1">
            <a:gsLst>
              <a:gs pos="0">
                <a:srgbClr val="D96E11">
                  <a:alpha val="14000"/>
                </a:srgbClr>
              </a:gs>
              <a:gs pos="70000">
                <a:srgbClr val="D96E1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2490341" y="1038225"/>
            <a:ext cx="3797350" cy="8210550"/>
          </a:xfrm>
          <a:prstGeom prst="roundRect">
            <a:avLst>
              <a:gd name="adj" fmla="val 9030"/>
            </a:avLst>
          </a:prstGeom>
          <a:ln w="9525">
            <a:solidFill>
              <a:srgbClr val="3D3732"/>
            </a:solidFill>
            <a:prstDash val="solid"/>
          </a:ln>
          <a:effectLst>
            <a:outerShdw sx="100000" sy="100000" kx="0" ky="0" algn="bl" rotWithShape="0" blurRad="952500" dist="381000" dir="5400000">
              <a:srgbClr val="000000">
                <a:alpha val="5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0341" y="1038225"/>
            <a:ext cx="3797350" cy="82105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84767" y="3857625"/>
            <a:ext cx="246008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INTERACCIONES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598104" y="4352925"/>
            <a:ext cx="7546747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6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Compartí! Comenta!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805714" y="5572125"/>
            <a:ext cx="833913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32353"/>
              </a:lnSpc>
              <a:buNone/>
            </a:pPr>
            <a:r>
              <a:rPr lang="en-US" sz="225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Likes, favoritos, calificaciones y seguidores: todo vuelve en forma de recomendaciones.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570089"/>
            <a:ext cx="176022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1066"/>
              </a:lnSpc>
              <a:buNone/>
            </a:pPr>
            <a:r>
              <a:rPr lang="en-US" sz="105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0500" dirty="0"/>
          </a:p>
        </p:txBody>
      </p:sp>
      <p:sp>
        <p:nvSpPr>
          <p:cNvPr id="3" name="Text 1"/>
          <p:cNvSpPr/>
          <p:nvPr/>
        </p:nvSpPr>
        <p:spPr>
          <a:xfrm>
            <a:off x="1143000" y="5132189"/>
            <a:ext cx="14716125" cy="1622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32"/>
              </a:lnSpc>
              <a:buNone/>
            </a:pPr>
            <a:r>
              <a:rPr lang="en-US" sz="48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verdadero valor de una receta no está en tenerla, está en compartirla.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2843213"/>
            <a:ext cx="176022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338513"/>
            <a:ext cx="1373505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Bocado seguirá el mismo camino de descubrimiento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5395913"/>
            <a:ext cx="5079950" cy="2047875"/>
          </a:xfrm>
          <a:prstGeom prst="roundRect">
            <a:avLst>
              <a:gd name="adj" fmla="val 1116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71625" y="5938838"/>
            <a:ext cx="464497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1625" y="6472238"/>
            <a:ext cx="464497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Calendario Semanal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603950" y="5395913"/>
            <a:ext cx="5080099" cy="2047875"/>
          </a:xfrm>
          <a:prstGeom prst="roundRect">
            <a:avLst>
              <a:gd name="adj" fmla="val 1116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32575" y="5938838"/>
            <a:ext cx="464513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032575" y="6472238"/>
            <a:ext cx="4645134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Nutricional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065050" y="5395913"/>
            <a:ext cx="5079950" cy="2047875"/>
          </a:xfrm>
          <a:prstGeom prst="roundRect">
            <a:avLst>
              <a:gd name="adj" fmla="val 11163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3675" y="5938838"/>
            <a:ext cx="464497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93675" y="6472238"/>
            <a:ext cx="464497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de Contenido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99006" y="3467100"/>
            <a:ext cx="228998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spc="216" kern="0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580511" y="3962400"/>
            <a:ext cx="7126828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Premium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2000250" y="5238750"/>
            <a:ext cx="4508450" cy="1581150"/>
          </a:xfrm>
          <a:prstGeom prst="roundRect">
            <a:avLst>
              <a:gd name="adj" fmla="val 14458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62495" y="5705475"/>
            <a:ext cx="418396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espacio de guardado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6889700" y="5238750"/>
            <a:ext cx="4508599" cy="1581150"/>
          </a:xfrm>
          <a:prstGeom prst="roundRect">
            <a:avLst>
              <a:gd name="adj" fmla="val 14458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85069" y="5705475"/>
            <a:ext cx="3917862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Distinciones especiales de perfil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1779300" y="5238750"/>
            <a:ext cx="4508450" cy="1581150"/>
          </a:xfrm>
          <a:prstGeom prst="roundRect">
            <a:avLst>
              <a:gd name="adj" fmla="val 14458"/>
            </a:avLst>
          </a:prstGeom>
          <a:solidFill>
            <a:srgbClr val="241D17"/>
          </a:solidFill>
          <a:ln w="9525">
            <a:solidFill>
              <a:srgbClr val="3D37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4671" y="5705475"/>
            <a:ext cx="3917708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visibilidad en la comunidad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41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3057525"/>
            <a:ext cx="1760220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representa Bocado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1143000" y="4333875"/>
            <a:ext cx="5130701" cy="1285875"/>
          </a:xfrm>
          <a:prstGeom prst="roundRect">
            <a:avLst>
              <a:gd name="adj" fmla="val 14815"/>
            </a:avLst>
          </a:prstGeom>
          <a:ln w="9525">
            <a:solidFill>
              <a:srgbClr val="3D37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1764" y="4762500"/>
            <a:ext cx="5113172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578501" y="4333875"/>
            <a:ext cx="5130850" cy="1285875"/>
          </a:xfrm>
          <a:prstGeom prst="roundRect">
            <a:avLst>
              <a:gd name="adj" fmla="val 14815"/>
            </a:avLst>
          </a:prstGeom>
          <a:ln w="9525">
            <a:solidFill>
              <a:srgbClr val="3D37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7263" y="4762500"/>
            <a:ext cx="51133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014150" y="4333875"/>
            <a:ext cx="5130850" cy="1285875"/>
          </a:xfrm>
          <a:prstGeom prst="roundRect">
            <a:avLst>
              <a:gd name="adj" fmla="val 14815"/>
            </a:avLst>
          </a:prstGeom>
          <a:ln w="9525">
            <a:solidFill>
              <a:srgbClr val="3D37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22913" y="4762500"/>
            <a:ext cx="51133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43000" y="5924550"/>
            <a:ext cx="5130701" cy="1304925"/>
          </a:xfrm>
          <a:prstGeom prst="roundRect">
            <a:avLst>
              <a:gd name="adj" fmla="val 14599"/>
            </a:avLst>
          </a:prstGeom>
          <a:ln w="9525">
            <a:solidFill>
              <a:srgbClr val="3D37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1764" y="6353175"/>
            <a:ext cx="511317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Economía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578501" y="5924550"/>
            <a:ext cx="5130850" cy="1304925"/>
          </a:xfrm>
          <a:prstGeom prst="roundRect">
            <a:avLst>
              <a:gd name="adj" fmla="val 14599"/>
            </a:avLst>
          </a:prstGeom>
          <a:ln w="9525">
            <a:solidFill>
              <a:srgbClr val="3D37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7263" y="6353175"/>
            <a:ext cx="511332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14150" y="5924550"/>
            <a:ext cx="5130850" cy="1304925"/>
          </a:xfrm>
          <a:prstGeom prst="roundRect">
            <a:avLst>
              <a:gd name="adj" fmla="val 14599"/>
            </a:avLst>
          </a:prstGeom>
          <a:ln w="19050">
            <a:solidFill>
              <a:srgbClr val="D96E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32438" y="6362700"/>
            <a:ext cx="509427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</a:t>
            </a:r>
            <a:endParaRPr lang="en-US" sz="3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0" y="31242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38983" y="4572000"/>
            <a:ext cx="8009885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 la presentación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6884134" y="5619750"/>
            <a:ext cx="4519732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6E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Inicio de una vida mejor.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875731" y="6810375"/>
            <a:ext cx="253653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250" dirty="0">
                <a:solidFill>
                  <a:srgbClr val="A19E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 gracias.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2026-07-14T18:18:40Z</dcterms:created>
  <dcterms:modified xsi:type="dcterms:W3CDTF">2026-07-14T18:18:40Z</dcterms:modified>
</cp:coreProperties>
</file>